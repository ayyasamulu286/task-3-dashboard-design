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5202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5202B"/>
                </a:solidFill>
                <a:latin typeface="Arial"/>
              </a:rPr>
              <a:t>Sales Share by Category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5D50"/>
              </a:solidFill>
              <a:effectLst/>
            </c:spPr>
          </c:dPt>
          <c:dPt>
            <c:idx val="1"/>
            <c:bubble3D val="0"/>
            <c:spPr>
              <a:solidFill>
                <a:srgbClr val="C1572C"/>
              </a:solidFill>
              <a:effectLst/>
            </c:spPr>
          </c:dPt>
          <c:dPt>
            <c:idx val="2"/>
            <c:bubble3D val="0"/>
            <c:spPr>
              <a:solidFill>
                <a:srgbClr val="C79A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742000</c:v>
                </c:pt>
                <c:pt idx="1">
                  <c:v>719047</c:v>
                </c:pt>
                <c:pt idx="2">
                  <c:v>836154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5202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5202B"/>
            </a:solidFill>
            <a:ln w="28575" cap="flat">
              <a:solidFill>
                <a:srgbClr val="1520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5202B"/>
              </a:solidFill>
              <a:ln w="9525" cap="flat">
                <a:solidFill>
                  <a:srgbClr val="1520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2014-01</c:v>
                  </c:pt>
                  <c:pt idx="1">
                    <c:v>2014-02</c:v>
                  </c:pt>
                  <c:pt idx="2">
                    <c:v>2014-03</c:v>
                  </c:pt>
                  <c:pt idx="3">
                    <c:v>2014-04</c:v>
                  </c:pt>
                  <c:pt idx="4">
                    <c:v>2014-05</c:v>
                  </c:pt>
                  <c:pt idx="5">
                    <c:v>2014-06</c:v>
                  </c:pt>
                  <c:pt idx="6">
                    <c:v>2014-07</c:v>
                  </c:pt>
                  <c:pt idx="7">
                    <c:v>2014-08</c:v>
                  </c:pt>
                  <c:pt idx="8">
                    <c:v>2014-09</c:v>
                  </c:pt>
                  <c:pt idx="9">
                    <c:v>2014-10</c:v>
                  </c:pt>
                  <c:pt idx="10">
                    <c:v>2014-11</c:v>
                  </c:pt>
                  <c:pt idx="11">
                    <c:v>2014-12</c:v>
                  </c:pt>
                  <c:pt idx="12">
                    <c:v>2015-01</c:v>
                  </c:pt>
                  <c:pt idx="13">
                    <c:v>2015-02</c:v>
                  </c:pt>
                  <c:pt idx="14">
                    <c:v>2015-03</c:v>
                  </c:pt>
                  <c:pt idx="15">
                    <c:v>2015-04</c:v>
                  </c:pt>
                  <c:pt idx="16">
                    <c:v>2015-05</c:v>
                  </c:pt>
                  <c:pt idx="17">
                    <c:v>2015-06</c:v>
                  </c:pt>
                  <c:pt idx="18">
                    <c:v>2015-07</c:v>
                  </c:pt>
                  <c:pt idx="19">
                    <c:v>2015-08</c:v>
                  </c:pt>
                  <c:pt idx="20">
                    <c:v>2015-09</c:v>
                  </c:pt>
                  <c:pt idx="21">
                    <c:v>2015-10</c:v>
                  </c:pt>
                  <c:pt idx="22">
                    <c:v>2015-11</c:v>
                  </c:pt>
                  <c:pt idx="23">
                    <c:v>2015-12</c:v>
                  </c:pt>
                  <c:pt idx="24">
                    <c:v>2016-01</c:v>
                  </c:pt>
                  <c:pt idx="25">
                    <c:v>2016-02</c:v>
                  </c:pt>
                  <c:pt idx="26">
                    <c:v>2016-03</c:v>
                  </c:pt>
                  <c:pt idx="27">
                    <c:v>2016-04</c:v>
                  </c:pt>
                  <c:pt idx="28">
                    <c:v>2016-05</c:v>
                  </c:pt>
                  <c:pt idx="29">
                    <c:v>2016-06</c:v>
                  </c:pt>
                  <c:pt idx="30">
                    <c:v>2016-07</c:v>
                  </c:pt>
                  <c:pt idx="31">
                    <c:v>2016-08</c:v>
                  </c:pt>
                  <c:pt idx="32">
                    <c:v>2016-09</c:v>
                  </c:pt>
                  <c:pt idx="33">
                    <c:v>2016-10</c:v>
                  </c:pt>
                  <c:pt idx="34">
                    <c:v>2016-11</c:v>
                  </c:pt>
                  <c:pt idx="35">
                    <c:v>2016-12</c:v>
                  </c:pt>
                  <c:pt idx="36">
                    <c:v>2017-01</c:v>
                  </c:pt>
                  <c:pt idx="37">
                    <c:v>2017-02</c:v>
                  </c:pt>
                  <c:pt idx="38">
                    <c:v>2017-03</c:v>
                  </c:pt>
                  <c:pt idx="39">
                    <c:v>2017-04</c:v>
                  </c:pt>
                  <c:pt idx="40">
                    <c:v>2017-05</c:v>
                  </c:pt>
                  <c:pt idx="41">
                    <c:v>2017-06</c:v>
                  </c:pt>
                  <c:pt idx="42">
                    <c:v>2017-07</c:v>
                  </c:pt>
                  <c:pt idx="43">
                    <c:v>2017-08</c:v>
                  </c:pt>
                  <c:pt idx="44">
                    <c:v>2017-09</c:v>
                  </c:pt>
                  <c:pt idx="45">
                    <c:v>2017-10</c:v>
                  </c:pt>
                  <c:pt idx="46">
                    <c:v>2017-11</c:v>
                  </c:pt>
                  <c:pt idx="47">
                    <c:v>2017-12</c:v>
                  </c:pt>
                </c:lvl>
              </c:multiLvlStrCache>
            </c:multiLvl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14237</c:v>
                </c:pt>
                <c:pt idx="1">
                  <c:v>4520</c:v>
                </c:pt>
                <c:pt idx="2">
                  <c:v>55691</c:v>
                </c:pt>
                <c:pt idx="3">
                  <c:v>28295</c:v>
                </c:pt>
                <c:pt idx="4">
                  <c:v>23648</c:v>
                </c:pt>
                <c:pt idx="5">
                  <c:v>34595</c:v>
                </c:pt>
                <c:pt idx="6">
                  <c:v>33946</c:v>
                </c:pt>
                <c:pt idx="7">
                  <c:v>27909</c:v>
                </c:pt>
                <c:pt idx="8">
                  <c:v>81777</c:v>
                </c:pt>
                <c:pt idx="9">
                  <c:v>31453</c:v>
                </c:pt>
                <c:pt idx="10">
                  <c:v>78629</c:v>
                </c:pt>
                <c:pt idx="11">
                  <c:v>69546</c:v>
                </c:pt>
                <c:pt idx="12">
                  <c:v>18174</c:v>
                </c:pt>
                <c:pt idx="13">
                  <c:v>11951</c:v>
                </c:pt>
                <c:pt idx="14">
                  <c:v>38726</c:v>
                </c:pt>
                <c:pt idx="15">
                  <c:v>34195</c:v>
                </c:pt>
                <c:pt idx="16">
                  <c:v>30132</c:v>
                </c:pt>
                <c:pt idx="17">
                  <c:v>24797</c:v>
                </c:pt>
                <c:pt idx="18">
                  <c:v>28765</c:v>
                </c:pt>
                <c:pt idx="19">
                  <c:v>36898</c:v>
                </c:pt>
                <c:pt idx="20">
                  <c:v>64596</c:v>
                </c:pt>
                <c:pt idx="21">
                  <c:v>31405</c:v>
                </c:pt>
                <c:pt idx="22">
                  <c:v>75973</c:v>
                </c:pt>
                <c:pt idx="23">
                  <c:v>74920</c:v>
                </c:pt>
                <c:pt idx="24">
                  <c:v>18542</c:v>
                </c:pt>
                <c:pt idx="25">
                  <c:v>22979</c:v>
                </c:pt>
                <c:pt idx="26">
                  <c:v>51716</c:v>
                </c:pt>
                <c:pt idx="27">
                  <c:v>38750</c:v>
                </c:pt>
                <c:pt idx="28">
                  <c:v>56988</c:v>
                </c:pt>
                <c:pt idx="29">
                  <c:v>40345</c:v>
                </c:pt>
                <c:pt idx="30">
                  <c:v>39262</c:v>
                </c:pt>
                <c:pt idx="31">
                  <c:v>31115</c:v>
                </c:pt>
                <c:pt idx="32">
                  <c:v>73410</c:v>
                </c:pt>
                <c:pt idx="33">
                  <c:v>59688</c:v>
                </c:pt>
                <c:pt idx="34">
                  <c:v>79412</c:v>
                </c:pt>
                <c:pt idx="35">
                  <c:v>96999</c:v>
                </c:pt>
                <c:pt idx="36">
                  <c:v>43971</c:v>
                </c:pt>
                <c:pt idx="37">
                  <c:v>20301</c:v>
                </c:pt>
                <c:pt idx="38">
                  <c:v>58872</c:v>
                </c:pt>
                <c:pt idx="39">
                  <c:v>36522</c:v>
                </c:pt>
                <c:pt idx="40">
                  <c:v>44261</c:v>
                </c:pt>
                <c:pt idx="41">
                  <c:v>52982</c:v>
                </c:pt>
                <c:pt idx="42">
                  <c:v>45264</c:v>
                </c:pt>
                <c:pt idx="43">
                  <c:v>63121</c:v>
                </c:pt>
                <c:pt idx="44">
                  <c:v>87867</c:v>
                </c:pt>
                <c:pt idx="45">
                  <c:v>77777</c:v>
                </c:pt>
                <c:pt idx="46">
                  <c:v>118448</c:v>
                </c:pt>
                <c:pt idx="47">
                  <c:v>83829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C1572C"/>
            </a:solidFill>
            <a:ln w="28575" cap="flat">
              <a:solidFill>
                <a:srgbClr val="C157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1572C"/>
              </a:solidFill>
              <a:ln w="9525" cap="flat">
                <a:solidFill>
                  <a:srgbClr val="C157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2014-01</c:v>
                  </c:pt>
                  <c:pt idx="1">
                    <c:v>2014-02</c:v>
                  </c:pt>
                  <c:pt idx="2">
                    <c:v>2014-03</c:v>
                  </c:pt>
                  <c:pt idx="3">
                    <c:v>2014-04</c:v>
                  </c:pt>
                  <c:pt idx="4">
                    <c:v>2014-05</c:v>
                  </c:pt>
                  <c:pt idx="5">
                    <c:v>2014-06</c:v>
                  </c:pt>
                  <c:pt idx="6">
                    <c:v>2014-07</c:v>
                  </c:pt>
                  <c:pt idx="7">
                    <c:v>2014-08</c:v>
                  </c:pt>
                  <c:pt idx="8">
                    <c:v>2014-09</c:v>
                  </c:pt>
                  <c:pt idx="9">
                    <c:v>2014-10</c:v>
                  </c:pt>
                  <c:pt idx="10">
                    <c:v>2014-11</c:v>
                  </c:pt>
                  <c:pt idx="11">
                    <c:v>2014-12</c:v>
                  </c:pt>
                  <c:pt idx="12">
                    <c:v>2015-01</c:v>
                  </c:pt>
                  <c:pt idx="13">
                    <c:v>2015-02</c:v>
                  </c:pt>
                  <c:pt idx="14">
                    <c:v>2015-03</c:v>
                  </c:pt>
                  <c:pt idx="15">
                    <c:v>2015-04</c:v>
                  </c:pt>
                  <c:pt idx="16">
                    <c:v>2015-05</c:v>
                  </c:pt>
                  <c:pt idx="17">
                    <c:v>2015-06</c:v>
                  </c:pt>
                  <c:pt idx="18">
                    <c:v>2015-07</c:v>
                  </c:pt>
                  <c:pt idx="19">
                    <c:v>2015-08</c:v>
                  </c:pt>
                  <c:pt idx="20">
                    <c:v>2015-09</c:v>
                  </c:pt>
                  <c:pt idx="21">
                    <c:v>2015-10</c:v>
                  </c:pt>
                  <c:pt idx="22">
                    <c:v>2015-11</c:v>
                  </c:pt>
                  <c:pt idx="23">
                    <c:v>2015-12</c:v>
                  </c:pt>
                  <c:pt idx="24">
                    <c:v>2016-01</c:v>
                  </c:pt>
                  <c:pt idx="25">
                    <c:v>2016-02</c:v>
                  </c:pt>
                  <c:pt idx="26">
                    <c:v>2016-03</c:v>
                  </c:pt>
                  <c:pt idx="27">
                    <c:v>2016-04</c:v>
                  </c:pt>
                  <c:pt idx="28">
                    <c:v>2016-05</c:v>
                  </c:pt>
                  <c:pt idx="29">
                    <c:v>2016-06</c:v>
                  </c:pt>
                  <c:pt idx="30">
                    <c:v>2016-07</c:v>
                  </c:pt>
                  <c:pt idx="31">
                    <c:v>2016-08</c:v>
                  </c:pt>
                  <c:pt idx="32">
                    <c:v>2016-09</c:v>
                  </c:pt>
                  <c:pt idx="33">
                    <c:v>2016-10</c:v>
                  </c:pt>
                  <c:pt idx="34">
                    <c:v>2016-11</c:v>
                  </c:pt>
                  <c:pt idx="35">
                    <c:v>2016-12</c:v>
                  </c:pt>
                  <c:pt idx="36">
                    <c:v>2017-01</c:v>
                  </c:pt>
                  <c:pt idx="37">
                    <c:v>2017-02</c:v>
                  </c:pt>
                  <c:pt idx="38">
                    <c:v>2017-03</c:v>
                  </c:pt>
                  <c:pt idx="39">
                    <c:v>2017-04</c:v>
                  </c:pt>
                  <c:pt idx="40">
                    <c:v>2017-05</c:v>
                  </c:pt>
                  <c:pt idx="41">
                    <c:v>2017-06</c:v>
                  </c:pt>
                  <c:pt idx="42">
                    <c:v>2017-07</c:v>
                  </c:pt>
                  <c:pt idx="43">
                    <c:v>2017-08</c:v>
                  </c:pt>
                  <c:pt idx="44">
                    <c:v>2017-09</c:v>
                  </c:pt>
                  <c:pt idx="45">
                    <c:v>2017-10</c:v>
                  </c:pt>
                  <c:pt idx="46">
                    <c:v>2017-11</c:v>
                  </c:pt>
                  <c:pt idx="47">
                    <c:v>2017-12</c:v>
                  </c:pt>
                </c:lvl>
              </c:multiLvlStrCache>
            </c:multiLvlStrRef>
          </c:cat>
          <c:val>
            <c:numRef>
              <c:f>Sheet1!$C$2:$C$49</c:f>
              <c:numCache>
                <c:formatCode>General</c:formatCode>
                <c:ptCount val="48"/>
                <c:pt idx="0">
                  <c:v>2450</c:v>
                </c:pt>
                <c:pt idx="1">
                  <c:v>862</c:v>
                </c:pt>
                <c:pt idx="2">
                  <c:v>499</c:v>
                </c:pt>
                <c:pt idx="3">
                  <c:v>3489</c:v>
                </c:pt>
                <c:pt idx="4">
                  <c:v>2739</c:v>
                </c:pt>
                <c:pt idx="5">
                  <c:v>4977</c:v>
                </c:pt>
                <c:pt idx="6">
                  <c:v>-841</c:v>
                </c:pt>
                <c:pt idx="7">
                  <c:v>5318</c:v>
                </c:pt>
                <c:pt idx="8">
                  <c:v>8328</c:v>
                </c:pt>
                <c:pt idx="9">
                  <c:v>3448</c:v>
                </c:pt>
                <c:pt idx="10">
                  <c:v>9292</c:v>
                </c:pt>
                <c:pt idx="11">
                  <c:v>8984</c:v>
                </c:pt>
                <c:pt idx="12">
                  <c:v>-3281</c:v>
                </c:pt>
                <c:pt idx="13">
                  <c:v>2814</c:v>
                </c:pt>
                <c:pt idx="14">
                  <c:v>9732</c:v>
                </c:pt>
                <c:pt idx="15">
                  <c:v>4187</c:v>
                </c:pt>
                <c:pt idx="16">
                  <c:v>4668</c:v>
                </c:pt>
                <c:pt idx="17">
                  <c:v>3336</c:v>
                </c:pt>
                <c:pt idx="18">
                  <c:v>3289</c:v>
                </c:pt>
                <c:pt idx="19">
                  <c:v>5356</c:v>
                </c:pt>
                <c:pt idx="20">
                  <c:v>8209</c:v>
                </c:pt>
                <c:pt idx="21">
                  <c:v>2817</c:v>
                </c:pt>
                <c:pt idx="22">
                  <c:v>12475</c:v>
                </c:pt>
                <c:pt idx="23">
                  <c:v>8017</c:v>
                </c:pt>
                <c:pt idx="24">
                  <c:v>2825</c:v>
                </c:pt>
                <c:pt idx="25">
                  <c:v>5005</c:v>
                </c:pt>
                <c:pt idx="26">
                  <c:v>3612</c:v>
                </c:pt>
                <c:pt idx="27">
                  <c:v>2978</c:v>
                </c:pt>
                <c:pt idx="28">
                  <c:v>8662</c:v>
                </c:pt>
                <c:pt idx="29">
                  <c:v>4750</c:v>
                </c:pt>
                <c:pt idx="30">
                  <c:v>4433</c:v>
                </c:pt>
                <c:pt idx="31">
                  <c:v>2062</c:v>
                </c:pt>
                <c:pt idx="32">
                  <c:v>9329</c:v>
                </c:pt>
                <c:pt idx="33">
                  <c:v>16243</c:v>
                </c:pt>
                <c:pt idx="34">
                  <c:v>4011</c:v>
                </c:pt>
                <c:pt idx="35">
                  <c:v>17885</c:v>
                </c:pt>
                <c:pt idx="36">
                  <c:v>7140</c:v>
                </c:pt>
                <c:pt idx="37">
                  <c:v>1614</c:v>
                </c:pt>
                <c:pt idx="38">
                  <c:v>14752</c:v>
                </c:pt>
                <c:pt idx="39">
                  <c:v>933</c:v>
                </c:pt>
                <c:pt idx="40">
                  <c:v>6343</c:v>
                </c:pt>
                <c:pt idx="41">
                  <c:v>8223</c:v>
                </c:pt>
                <c:pt idx="42">
                  <c:v>6953</c:v>
                </c:pt>
                <c:pt idx="43">
                  <c:v>9041</c:v>
                </c:pt>
                <c:pt idx="44">
                  <c:v>10992</c:v>
                </c:pt>
                <c:pt idx="45">
                  <c:v>9275</c:v>
                </c:pt>
                <c:pt idx="46">
                  <c:v>9690</c:v>
                </c:pt>
                <c:pt idx="47">
                  <c:v>8483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62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DDD0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2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5202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5202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5202B"/>
                </a:solidFill>
                <a:latin typeface="Arial"/>
              </a:rPr>
              <a:t>Sales &amp; Profit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520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Furniture</c:v>
                  </c:pt>
                  <c:pt idx="1">
                    <c:v>Office Supplies</c:v>
                  </c:pt>
                  <c:pt idx="2">
                    <c:v>Technology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742000</c:v>
                </c:pt>
                <c:pt idx="1">
                  <c:v>719047</c:v>
                </c:pt>
                <c:pt idx="2">
                  <c:v>836154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C157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Furniture</c:v>
                  </c:pt>
                  <c:pt idx="1">
                    <c:v>Office Supplies</c:v>
                  </c:pt>
                  <c:pt idx="2">
                    <c:v>Technology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18451</c:v>
                </c:pt>
                <c:pt idx="1">
                  <c:v>122491</c:v>
                </c:pt>
                <c:pt idx="2">
                  <c:v>145455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2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DDD0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2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5202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5202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5202B"/>
                </a:solidFill>
                <a:latin typeface="Arial"/>
              </a:rPr>
              <a:t>Sales &amp; Profit by Region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F5D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Central</c:v>
                  </c:pt>
                  <c:pt idx="1">
                    <c:v>East</c:v>
                  </c:pt>
                  <c:pt idx="2">
                    <c:v>South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501240</c:v>
                </c:pt>
                <c:pt idx="1">
                  <c:v>678781</c:v>
                </c:pt>
                <c:pt idx="2">
                  <c:v>391722</c:v>
                </c:pt>
                <c:pt idx="3">
                  <c:v>725458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C79A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Central</c:v>
                  </c:pt>
                  <c:pt idx="1">
                    <c:v>East</c:v>
                  </c:pt>
                  <c:pt idx="2">
                    <c:v>South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39706</c:v>
                </c:pt>
                <c:pt idx="1">
                  <c:v>91523</c:v>
                </c:pt>
                <c:pt idx="2">
                  <c:v>46749</c:v>
                </c:pt>
                <c:pt idx="3">
                  <c:v>108418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2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DDD0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2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5202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2F5D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157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157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157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cat>
            <c:multiLvlStrRef>
              <c:f>Sheet1!$A$2:$A$18</c:f>
              <c:multiLvlStrCache>
                <c:ptCount val="17"/>
                <c:lvl>
                  <c:pt idx="0">
                    <c:v>Tables</c:v>
                  </c:pt>
                  <c:pt idx="1">
                    <c:v>Bookcases</c:v>
                  </c:pt>
                  <c:pt idx="2">
                    <c:v>Supplies</c:v>
                  </c:pt>
                  <c:pt idx="3">
                    <c:v>Fasteners</c:v>
                  </c:pt>
                  <c:pt idx="4">
                    <c:v>Machines</c:v>
                  </c:pt>
                  <c:pt idx="5">
                    <c:v>Labels</c:v>
                  </c:pt>
                  <c:pt idx="6">
                    <c:v>Art</c:v>
                  </c:pt>
                  <c:pt idx="7">
                    <c:v>Envelopes</c:v>
                  </c:pt>
                  <c:pt idx="8">
                    <c:v>Furnishings</c:v>
                  </c:pt>
                  <c:pt idx="9">
                    <c:v>Appliances</c:v>
                  </c:pt>
                  <c:pt idx="10">
                    <c:v>Storage</c:v>
                  </c:pt>
                  <c:pt idx="11">
                    <c:v>Chairs</c:v>
                  </c:pt>
                  <c:pt idx="12">
                    <c:v>Binders</c:v>
                  </c:pt>
                  <c:pt idx="13">
                    <c:v>Paper</c:v>
                  </c:pt>
                  <c:pt idx="14">
                    <c:v>Accessories</c:v>
                  </c:pt>
                  <c:pt idx="15">
                    <c:v>Phones</c:v>
                  </c:pt>
                  <c:pt idx="16">
                    <c:v>Copiers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-17725</c:v>
                </c:pt>
                <c:pt idx="1">
                  <c:v>-3473</c:v>
                </c:pt>
                <c:pt idx="2">
                  <c:v>-1189</c:v>
                </c:pt>
                <c:pt idx="3">
                  <c:v>950</c:v>
                </c:pt>
                <c:pt idx="4">
                  <c:v>3385</c:v>
                </c:pt>
                <c:pt idx="5">
                  <c:v>5546</c:v>
                </c:pt>
                <c:pt idx="6">
                  <c:v>6528</c:v>
                </c:pt>
                <c:pt idx="7">
                  <c:v>6964</c:v>
                </c:pt>
                <c:pt idx="8">
                  <c:v>13059</c:v>
                </c:pt>
                <c:pt idx="9">
                  <c:v>18138</c:v>
                </c:pt>
                <c:pt idx="10">
                  <c:v>21279</c:v>
                </c:pt>
                <c:pt idx="11">
                  <c:v>26590</c:v>
                </c:pt>
                <c:pt idx="12">
                  <c:v>30222</c:v>
                </c:pt>
                <c:pt idx="13">
                  <c:v>34054</c:v>
                </c:pt>
                <c:pt idx="14">
                  <c:v>41937</c:v>
                </c:pt>
                <c:pt idx="15">
                  <c:v>44516</c:v>
                </c:pt>
                <c:pt idx="16">
                  <c:v>55618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520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4DDD0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2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5202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5202B"/>
                </a:solidFill>
                <a:latin typeface="Arial"/>
              </a:rPr>
              <a:t>Sales by Customer Segment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F5D50"/>
            </a:solidFill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5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Consumer</c:v>
                  </c:pt>
                  <c:pt idx="1">
                    <c:v>Corporate</c:v>
                  </c:pt>
                  <c:pt idx="2">
                    <c:v>Home Office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1161401</c:v>
                </c:pt>
                <c:pt idx="1">
                  <c:v>706146</c:v>
                </c:pt>
                <c:pt idx="2">
                  <c:v>429653</c:v>
                </c:pt>
              </c:numCache>
            </c:numRef>
          </c:val>
        </c:ser>
        <c:dLbls>
          <c:numFmt formatCode="$#,##0,K" sourceLinked="0"/>
          <c:txPr>
            <a:bodyPr/>
            <a:lstStyle/>
            <a:p>
              <a:pPr>
                <a:defRPr b="0" i="0" strike="noStrike" sz="1000" u="none">
                  <a:solidFill>
                    <a:srgbClr val="15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520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4DDD0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2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5202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5202B"/>
                </a:solidFill>
                <a:latin typeface="Arial"/>
              </a:rPr>
              <a:t>Orders by Ship Mode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202B"/>
              </a:solidFill>
              <a:effectLst/>
            </c:spPr>
          </c:dPt>
          <c:dPt>
            <c:idx val="1"/>
            <c:bubble3D val="0"/>
            <c:spPr>
              <a:solidFill>
                <a:srgbClr val="2F5D50"/>
              </a:solidFill>
              <a:effectLst/>
            </c:spPr>
          </c:dPt>
          <c:dPt>
            <c:idx val="2"/>
            <c:bubble3D val="0"/>
            <c:spPr>
              <a:solidFill>
                <a:srgbClr val="C1572C"/>
              </a:solidFill>
              <a:effectLst/>
            </c:spPr>
          </c:dPt>
          <c:dPt>
            <c:idx val="3"/>
            <c:bubble3D val="0"/>
            <c:spPr>
              <a:solidFill>
                <a:srgbClr val="C79A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Standard Class</c:v>
                </c:pt>
                <c:pt idx="1">
                  <c:v>Second Class</c:v>
                </c:pt>
                <c:pt idx="2">
                  <c:v>First Class</c:v>
                </c:pt>
                <c:pt idx="3">
                  <c:v>Same Day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5968</c:v>
                </c:pt>
                <c:pt idx="1">
                  <c:v>1945</c:v>
                </c:pt>
                <c:pt idx="2">
                  <c:v>1538</c:v>
                </c:pt>
                <c:pt idx="3">
                  <c:v>543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5202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7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RETAIL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Sales &amp; Profit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4617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analytics summary covering sales, profit, discount and shipping performance across 9,994 order lines, 2014–2017.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C1572C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1463040"/>
            <a:ext cx="1005840" cy="1005840"/>
          </a:xfrm>
          <a:prstGeom prst="ellipse">
            <a:avLst/>
          </a:prstGeom>
          <a:solidFill>
            <a:srgbClr val="C79A3D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SampleSuperstore.csv  •  Prepared as Task 3 deliverable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performance, 2014–2017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396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7335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$2,297,201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852928" y="1508760"/>
            <a:ext cx="21396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0" y="167335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017520" y="20116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$286,397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157216" y="1508760"/>
            <a:ext cx="21396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21808" y="167335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21808" y="20116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12.47%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461504" y="1508760"/>
            <a:ext cx="21396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26096" y="167335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626096" y="20116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5,009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765792" y="1508760"/>
            <a:ext cx="21396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30384" y="167335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DISCOUNT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930384" y="20116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15.62%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611880"/>
            <a:ext cx="6949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 category sales ($836K) and profit ($145K) — the strongest combination of volume and margin.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generates nearly as much revenue as Technology ($742K) but returns only $18K profit — a 2.5% margin, dragged down by Tables and Bookcases.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 of 15.6% is applied broadly; profit erosion becomes visible above ~20% discount (see Slide 5).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East regions deliver the best margins; Central trails at roughly 8% margin.</a:t>
            </a:r>
            <a:endParaRPr lang="en-US" sz="13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818120" y="3246120"/>
          <a:ext cx="38404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OVER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and profit trend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11247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show clear seasonality with peaks in Nov–Dec each year; FY2017 closes at the highest monthly volume in the dataset ($118K, Nov 2017). Profit grows more slowly than sales, signalling margin pressure worth investigating further.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BUSINESS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and regional performance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41732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and the West region are the two strongest performers on both volume and profitability.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MARGIN LEAKS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Sub-category profitability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471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(–$17.7K), Bookcases (–$3.5K) and Supplies (–$1.2K) operate at a net loss — likely candidates for discount caps or pricing review. Copiers, Phones and Accessories carry the highest per-dollar margins.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BUYS, HOW IT SHIPS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 &amp; shipping mix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46304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989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is the largest segment by sales (~50%), followed by Corporate and Home Office. Standard Class accounts for 60% of shipments — an opportunity to test faster default shipping for high-value orders.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REVENUE CONCENTRATES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states &amp; customers by sales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394960" cy="457200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California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$457,688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$310,876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$170,188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Washington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$138,641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Pennsylvania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$116,512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$89,474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Illinois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$80,166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$78,258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$76,270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Virginia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$70,637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17320"/>
          <a:ext cx="5394960" cy="457200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Sean Miller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$25,043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Tamara Chand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$19,052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Raymond Buch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$15,117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Ashbrook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$14,596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Adrian Barton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$14,474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 Lonsdale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$14,175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Sanjit Chand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$14,142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Hunter Lopez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$12,873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Sanjit Engle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$12,209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Christopher Conant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$12,129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and New York alone contribute over $768K (~33%) of total sales. Sean Miller is the top individual customer at over $25K in lifetime purchases.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recommended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96596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11480" cy="411480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Technology &amp; Copiers margins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404872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Highest-margin lines; prioritize inventory and marketing spend here.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196596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20240"/>
            <a:ext cx="411480" cy="411480"/>
          </a:xfrm>
          <a:prstGeom prst="ellipse">
            <a:avLst/>
          </a:prstGeom>
          <a:solidFill>
            <a:srgbClr val="C1572C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18928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discounting on Tables &amp; Bookcases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2404872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sub-categories operate at a net loss; cap discounts or reprice.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349240" cy="196596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114800"/>
            <a:ext cx="411480" cy="411480"/>
          </a:xfrm>
          <a:prstGeom prst="ellipse">
            <a:avLst/>
          </a:prstGeom>
          <a:solidFill>
            <a:srgbClr val="C79A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0873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down on West &amp; East regions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599432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margins of the four regions — a model for Central's playbook.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49240" cy="196596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114800"/>
            <a:ext cx="411480" cy="411480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40873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faster shipping for top customers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4599432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orders ship Standard Class; segment high-value orders for upgrade offers.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&amp; Profit Dashboard - Summary</dc:title>
  <dc:subject>PptxGenJS Presentation</dc:subject>
  <dc:creator>Task 3 - Dashboard Design</dc:creator>
  <cp:lastModifiedBy>Task 3 - Dashboard Design</cp:lastModifiedBy>
  <cp:revision>1</cp:revision>
  <dcterms:created xsi:type="dcterms:W3CDTF">2026-06-19T11:27:04Z</dcterms:created>
  <dcterms:modified xsi:type="dcterms:W3CDTF">2026-06-19T11:27:04Z</dcterms:modified>
</cp:coreProperties>
</file>